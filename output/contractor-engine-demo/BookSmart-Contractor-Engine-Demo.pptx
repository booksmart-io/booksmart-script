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f48282aeec4b02" /><Relationship Type="http://schemas.openxmlformats.org/officeDocument/2006/relationships/extended-properties" Target="/docProps/app.xml" Id="Rce79a3a658074771" /><Relationship Type="http://schemas.openxmlformats.org/officeDocument/2006/relationships/officeDocument" Target="/ppt/presentation.xml" Id="Re41db772ecc34d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bdeb4759774687"/>
  </p:sldMasterIdLst>
  <p:notesMasterIdLst>
    <p:notesMasterId xmlns:r="http://schemas.openxmlformats.org/officeDocument/2006/relationships" r:id="R079dd49a19cc4751"/>
  </p:notesMasterIdLst>
  <p:sldIdLst>
    <p:sldId xmlns:r="http://schemas.openxmlformats.org/officeDocument/2006/relationships" id="256" r:id="R9db220a83aed4df1"/>
    <p:sldId xmlns:r="http://schemas.openxmlformats.org/officeDocument/2006/relationships" id="257" r:id="R10be5038a1424f67"/>
    <p:sldId xmlns:r="http://schemas.openxmlformats.org/officeDocument/2006/relationships" id="258" r:id="Rdb8cb37e7b534222"/>
    <p:sldId xmlns:r="http://schemas.openxmlformats.org/officeDocument/2006/relationships" id="259" r:id="R82e9c2880f8b48e7"/>
    <p:sldId xmlns:r="http://schemas.openxmlformats.org/officeDocument/2006/relationships" id="260" r:id="Rbf1477cd0493494b"/>
    <p:sldId xmlns:r="http://schemas.openxmlformats.org/officeDocument/2006/relationships" id="261" r:id="R30c57d744bca41e6"/>
    <p:sldId xmlns:r="http://schemas.openxmlformats.org/officeDocument/2006/relationships" id="262" r:id="R0a1bd878443f43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885515147e48ba" /><Relationship Type="http://schemas.openxmlformats.org/officeDocument/2006/relationships/slideMaster" Target="/ppt/slideMasters/slideMaster1.xml" Id="Re0bdeb4759774687" /><Relationship Type="http://schemas.openxmlformats.org/officeDocument/2006/relationships/notesMaster" Target="/ppt/notesMasters/notesMaster1.xml" Id="R079dd49a19cc4751" /><Relationship Type="http://schemas.openxmlformats.org/officeDocument/2006/relationships/presProps" Target="/ppt/presProps.xml" Id="R6b57cd5daba14174" /><Relationship Type="http://schemas.openxmlformats.org/officeDocument/2006/relationships/tableStyles" Target="/ppt/tableStyles.xml" Id="R5b454c8ee6f24f8e" /><Relationship Type="http://schemas.openxmlformats.org/officeDocument/2006/relationships/slide" Target="/ppt/slides/slide1.xml" Id="R9db220a83aed4df1" /><Relationship Type="http://schemas.openxmlformats.org/officeDocument/2006/relationships/slide" Target="/ppt/slides/slide2.xml" Id="R10be5038a1424f67" /><Relationship Type="http://schemas.openxmlformats.org/officeDocument/2006/relationships/slide" Target="/ppt/slides/slide3.xml" Id="Rdb8cb37e7b534222" /><Relationship Type="http://schemas.openxmlformats.org/officeDocument/2006/relationships/slide" Target="/ppt/slides/slide4.xml" Id="R82e9c2880f8b48e7" /><Relationship Type="http://schemas.openxmlformats.org/officeDocument/2006/relationships/slide" Target="/ppt/slides/slide5.xml" Id="Rbf1477cd0493494b" /><Relationship Type="http://schemas.openxmlformats.org/officeDocument/2006/relationships/slide" Target="/ppt/slides/slide6.xml" Id="R30c57d744bca41e6" /><Relationship Type="http://schemas.openxmlformats.org/officeDocument/2006/relationships/slide" Target="/ppt/slides/slide7.xml" Id="R0a1bd878443f43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c61f3dad6943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5f11addfa74e2c" /><Relationship Type="http://schemas.openxmlformats.org/officeDocument/2006/relationships/notesMaster" Target="/ppt/notesMasters/notesMaster1.xml" Id="R965573f28def41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63563044034a5f" /><Relationship Type="http://schemas.openxmlformats.org/officeDocument/2006/relationships/notesMaster" Target="/ppt/notesMasters/notesMaster1.xml" Id="Re3182649ed384f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2d57893f2a4dba" /><Relationship Type="http://schemas.openxmlformats.org/officeDocument/2006/relationships/notesMaster" Target="/ppt/notesMasters/notesMaster1.xml" Id="Raaaf1a5d4e274c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9074b0b50f4374" /><Relationship Type="http://schemas.openxmlformats.org/officeDocument/2006/relationships/notesMaster" Target="/ppt/notesMasters/notesMaster1.xml" Id="R6eb7ba8e6ee046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e926013d584ba2" /><Relationship Type="http://schemas.openxmlformats.org/officeDocument/2006/relationships/notesMaster" Target="/ppt/notesMasters/notesMaster1.xml" Id="R6e24ef2770894c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58e83bcb854e0e" /><Relationship Type="http://schemas.openxmlformats.org/officeDocument/2006/relationships/notesMaster" Target="/ppt/notesMasters/notesMaster1.xml" Id="R3b3e98ccd7e643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43512ce8ea34a88" /><Relationship Type="http://schemas.openxmlformats.org/officeDocument/2006/relationships/notesMaster" Target="/ppt/notesMasters/notesMaster1.xml" Id="R53068c1a046e4e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1d2d16ac2940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67a74cd32141ff" /><Relationship Type="http://schemas.openxmlformats.org/officeDocument/2006/relationships/slideLayout" Target="/ppt/slideLayouts/slideLayout1.xml" Id="Rdce2f60aef5340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e2f60aef5340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1dc03eea6d4cd6" /><Relationship Type="http://schemas.openxmlformats.org/officeDocument/2006/relationships/notesSlide" Target="/ppt/notesSlides/notesSlide1.xml" Id="Rfb110e34466741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2ffdbdc1b841fd" /><Relationship Type="http://schemas.openxmlformats.org/officeDocument/2006/relationships/image" Target="/ppt/media/image.jpeg" Id="R4d00f622fc8e4af7" /><Relationship Type="http://schemas.openxmlformats.org/officeDocument/2006/relationships/notesSlide" Target="/ppt/notesSlides/notesSlide2.xml" Id="Rea8f37ac070e4a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bb2dcc04e64903" /><Relationship Type="http://schemas.openxmlformats.org/officeDocument/2006/relationships/image" Target="/ppt/media/image2.jpeg" Id="R8fb69c4f64a7482f" /><Relationship Type="http://schemas.openxmlformats.org/officeDocument/2006/relationships/notesSlide" Target="/ppt/notesSlides/notesSlide3.xml" Id="Rb0a802547ac14f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0716a3546542d1" /><Relationship Type="http://schemas.openxmlformats.org/officeDocument/2006/relationships/image" Target="/ppt/media/image3.jpeg" Id="Rce7dafb248994f32" /><Relationship Type="http://schemas.openxmlformats.org/officeDocument/2006/relationships/notesSlide" Target="/ppt/notesSlides/notesSlide4.xml" Id="Rbdb9eeab5a9f49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3c7a7ab73a456c" /><Relationship Type="http://schemas.openxmlformats.org/officeDocument/2006/relationships/image" Target="/ppt/media/image4.jpeg" Id="R5a23ff50b3a54bda" /><Relationship Type="http://schemas.openxmlformats.org/officeDocument/2006/relationships/notesSlide" Target="/ppt/notesSlides/notesSlide5.xml" Id="R2fa85bb9d6a44c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bc1a98bff84732" /><Relationship Type="http://schemas.openxmlformats.org/officeDocument/2006/relationships/image" Target="/ppt/media/image5.jpeg" Id="Rd779dac46a77480d" /><Relationship Type="http://schemas.openxmlformats.org/officeDocument/2006/relationships/notesSlide" Target="/ppt/notesSlides/notesSlide6.xml" Id="R7a670ec7916c45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be2573882741e9" /><Relationship Type="http://schemas.openxmlformats.org/officeDocument/2006/relationships/notesSlide" Target="/ppt/notesSlides/notesSlide7.xml" Id="R681b6a894219432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0D45BB5A-B6D2-4205-B0C1-17E97A99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4B41A"/>
                </a:solidFill>
              </a:defRPr>
            </a:pPr>
            <a:r>
              <a:rPr sz="1275" b="1">
                <a:solidFill>
                  <a:srgbClr val="F4B41A"/>
                </a:solidFill>
              </a:rPr>
              <a:t>BOOKSMART PRODUCT DEMO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FC2135D-D3A3-4F79-B5AB-552B8FC7A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96202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The contractor engine turns financial activity into action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57D3827-C003-4736-8BAE-F436EB37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D0D5DD"/>
                </a:solidFill>
              </a:defRPr>
            </a:pPr>
            <a:r>
              <a:rPr sz="1950">
                <a:solidFill>
                  <a:srgbClr val="D0D5DD"/>
                </a:solidFill>
              </a:rPr>
              <a:t>A live walkthrough of trusted financial intelligence, job monitoring, owner tasks, and CPA escalation.</a:t>
            </a:r>
          </a:p>
        </p:txBody>
      </p:sp>
      <p:sp>
        <p:nvSpPr>
          <p:cNvPr id="4" name="gold-rule">
            <a:extLst xmlns:a="http://schemas.openxmlformats.org/drawingml/2006/main">
              <a:ext uri="{FF2B5EF4-FFF2-40B4-BE49-F238E27FC236}">
                <a16:creationId xmlns:a16="http://schemas.microsoft.com/office/drawing/2014/main" id="{7C06DB73-C5F3-487C-B92F-64355DB0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809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41A"/>
          </a:solidFill>
          <a:ln xmlns:a="http://schemas.openxmlformats.org/drawingml/2006/main" w="0">
            <a:solidFill>
              <a:srgbClr val="F4B41A"/>
            </a:solidFill>
            <a:prstDash val="solid"/>
          </a:ln>
        </p:spPr>
      </p:sp>
      <p:sp>
        <p:nvSpPr>
          <p:cNvPr id="5" name="cover-close">
            <a:extLst xmlns:a="http://schemas.openxmlformats.org/drawingml/2006/main">
              <a:ext uri="{FF2B5EF4-FFF2-40B4-BE49-F238E27FC236}">
                <a16:creationId xmlns:a16="http://schemas.microsoft.com/office/drawing/2014/main" id="{AE171B2F-EAD3-43CD-836E-6CD6771D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Jobber knows the work. Accounting knows the books. BookSmart explains what needs attention.</a:t>
            </a:r>
          </a:p>
        </p:txBody>
      </p:sp>
    </p:spTree>
    <p:extLst>
      <p:ext uri="{BB962C8B-B14F-4D97-AF65-F5344CB8AC3E}">
        <p14:creationId xmlns:p14="http://schemas.microsoft.com/office/powerpoint/2010/main" val="1833498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yebrow-1">
            <a:extLst xmlns:a="http://schemas.openxmlformats.org/drawingml/2006/main">
              <a:ext uri="{FF2B5EF4-FFF2-40B4-BE49-F238E27FC236}">
                <a16:creationId xmlns:a16="http://schemas.microsoft.com/office/drawing/2014/main" id="{D4614387-046F-4B71-B956-D5A61D763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BOOKSMART CONTRACTOR ENGINE  /  01</a:t>
            </a:r>
          </a:p>
        </p:txBody>
      </p:sp>
      <p:sp>
        <p:nvSpPr>
          <p:cNvPr id="2" name="title-1">
            <a:extLst xmlns:a="http://schemas.openxmlformats.org/drawingml/2006/main">
              <a:ext uri="{FF2B5EF4-FFF2-40B4-BE49-F238E27FC236}">
                <a16:creationId xmlns:a16="http://schemas.microsoft.com/office/drawing/2014/main" id="{7AE711A1-E902-4F70-8103-664F59C9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A32"/>
                </a:solidFill>
              </a:defRPr>
            </a:pPr>
            <a:r>
              <a:rPr sz="2850" b="1">
                <a:solidFill>
                  <a:srgbClr val="071A32"/>
                </a:solidFill>
              </a:rPr>
              <a:t>The morning brief starts with trusted numbers</a:t>
            </a:r>
          </a:p>
        </p:txBody>
      </p:sp>
      <p:sp>
        <p:nvSpPr>
          <p:cNvPr id="3" name="subtitle-1">
            <a:extLst xmlns:a="http://schemas.openxmlformats.org/drawingml/2006/main">
              <a:ext uri="{FF2B5EF4-FFF2-40B4-BE49-F238E27FC236}">
                <a16:creationId xmlns:a16="http://schemas.microsoft.com/office/drawing/2014/main" id="{A3444A35-7784-45B4-A156-E92D9080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467"/>
                </a:solidFill>
              </a:defRPr>
            </a:pPr>
            <a:r>
              <a:rPr sz="1425">
                <a:solidFill>
                  <a:srgbClr val="475467"/>
                </a:solidFill>
              </a:rPr>
              <a:t>BookSmart summarizes what changed, highlights risk, and labels missing inputs instead of guessing.</a:t>
            </a:r>
          </a:p>
        </p:txBody>
      </p:sp>
      <p:sp>
        <p:nvSpPr>
          <p:cNvPr id="4" name="frame-1">
            <a:extLst xmlns:a="http://schemas.openxmlformats.org/drawingml/2006/main">
              <a:ext uri="{FF2B5EF4-FFF2-40B4-BE49-F238E27FC236}">
                <a16:creationId xmlns:a16="http://schemas.microsoft.com/office/drawing/2014/main" id="{693B693E-DEDC-4FEA-8CEC-DAE7C920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111252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2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00f622fc8e4af7"/>
          <a:stretch xmlns:a="http://schemas.openxmlformats.org/drawingml/2006/main"/>
        </p:blipFill>
        <p:spPr>
          <a:xfrm xmlns:a="http://schemas.openxmlformats.org/drawingml/2006/main">
            <a:off x="2946274" y="1647825"/>
            <a:ext cx="6299452" cy="47053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7790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yebrow-2">
            <a:extLst xmlns:a="http://schemas.openxmlformats.org/drawingml/2006/main">
              <a:ext uri="{FF2B5EF4-FFF2-40B4-BE49-F238E27FC236}">
                <a16:creationId xmlns:a16="http://schemas.microsoft.com/office/drawing/2014/main" id="{BC74BB5F-E10A-42EA-8D94-5DF41F03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BOOKSMART CONTRACTOR ENGINE  /  02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A0F8A10B-C499-46CB-A554-322065E9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A32"/>
                </a:solidFill>
              </a:defRPr>
            </a:pPr>
            <a:r>
              <a:rPr sz="2850" b="1">
                <a:solidFill>
                  <a:srgbClr val="071A32"/>
                </a:solidFill>
              </a:rPr>
              <a:t>One accounting truth prevents double counting</a:t>
            </a:r>
          </a:p>
        </p:txBody>
      </p:sp>
      <p:sp>
        <p:nvSpPr>
          <p:cNvPr id="3" name="subtitle-2">
            <a:extLst xmlns:a="http://schemas.openxmlformats.org/drawingml/2006/main">
              <a:ext uri="{FF2B5EF4-FFF2-40B4-BE49-F238E27FC236}">
                <a16:creationId xmlns:a16="http://schemas.microsoft.com/office/drawing/2014/main" id="{7903DEA5-6640-4033-B9A8-EF31C807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467"/>
                </a:solidFill>
              </a:defRPr>
            </a:pPr>
            <a:r>
              <a:rPr sz="1425">
                <a:solidFill>
                  <a:srgbClr val="475467"/>
                </a:solidFill>
              </a:rPr>
              <a:t>Canonical approved activity drives revenue, expenses, net income, and cash movement; connected sources add context.</a:t>
            </a:r>
          </a:p>
        </p:txBody>
      </p:sp>
      <p:sp>
        <p:nvSpPr>
          <p:cNvPr id="4" name="frame-2">
            <a:extLst xmlns:a="http://schemas.openxmlformats.org/drawingml/2006/main">
              <a:ext uri="{FF2B5EF4-FFF2-40B4-BE49-F238E27FC236}">
                <a16:creationId xmlns:a16="http://schemas.microsoft.com/office/drawing/2014/main" id="{A67A9382-2135-4BA2-A11E-3B4289F0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111252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2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b69c4f64a7482f"/>
          <a:stretch xmlns:a="http://schemas.openxmlformats.org/drawingml/2006/main"/>
        </p:blipFill>
        <p:spPr>
          <a:xfrm xmlns:a="http://schemas.openxmlformats.org/drawingml/2006/main">
            <a:off x="2946274" y="1647825"/>
            <a:ext cx="6299452" cy="47053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5208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yebrow-3">
            <a:extLst xmlns:a="http://schemas.openxmlformats.org/drawingml/2006/main">
              <a:ext uri="{FF2B5EF4-FFF2-40B4-BE49-F238E27FC236}">
                <a16:creationId xmlns:a16="http://schemas.microsoft.com/office/drawing/2014/main" id="{A91194D3-389D-470C-9FA7-353FD4EE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BOOKSMART CONTRACTOR ENGINE  /  03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400FD70B-F828-4208-9422-10E9F3BB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A32"/>
                </a:solidFill>
              </a:defRPr>
            </a:pPr>
            <a:r>
              <a:rPr sz="2850" b="1">
                <a:solidFill>
                  <a:srgbClr val="071A32"/>
                </a:solidFill>
              </a:rPr>
              <a:t>Signals become concrete, owned work</a:t>
            </a:r>
          </a:p>
        </p:txBody>
      </p:sp>
      <p:sp>
        <p:nvSpPr>
          <p:cNvPr id="3" name="subtitle-3">
            <a:extLst xmlns:a="http://schemas.openxmlformats.org/drawingml/2006/main">
              <a:ext uri="{FF2B5EF4-FFF2-40B4-BE49-F238E27FC236}">
                <a16:creationId xmlns:a16="http://schemas.microsoft.com/office/drawing/2014/main" id="{8C0690EB-A6D9-42EF-A3DA-AFF407B6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467"/>
                </a:solidFill>
              </a:defRPr>
            </a:pPr>
            <a:r>
              <a:rPr sz="1425">
                <a:solidFill>
                  <a:srgbClr val="475467"/>
                </a:solidFill>
              </a:rPr>
              <a:t>Every supported issue creates a persistent task with an owner, priority, due date, and deterministic lifecycle.</a:t>
            </a:r>
          </a:p>
        </p:txBody>
      </p:sp>
      <p:sp>
        <p:nvSpPr>
          <p:cNvPr id="4" name="frame-3">
            <a:extLst xmlns:a="http://schemas.openxmlformats.org/drawingml/2006/main">
              <a:ext uri="{FF2B5EF4-FFF2-40B4-BE49-F238E27FC236}">
                <a16:creationId xmlns:a16="http://schemas.microsoft.com/office/drawing/2014/main" id="{BFA3DE41-815A-402D-9E20-02EA036E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111252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2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7dafb248994f32"/>
          <a:stretch xmlns:a="http://schemas.openxmlformats.org/drawingml/2006/main"/>
        </p:blipFill>
        <p:spPr>
          <a:xfrm xmlns:a="http://schemas.openxmlformats.org/drawingml/2006/main">
            <a:off x="2946274" y="1647825"/>
            <a:ext cx="6299452" cy="47053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0995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yebrow-4">
            <a:extLst xmlns:a="http://schemas.openxmlformats.org/drawingml/2006/main">
              <a:ext uri="{FF2B5EF4-FFF2-40B4-BE49-F238E27FC236}">
                <a16:creationId xmlns:a16="http://schemas.microsoft.com/office/drawing/2014/main" id="{A3F9E4F9-717A-43B5-B6C6-FD02ED301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BOOKSMART CONTRACTOR ENGINE  /  04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5461287E-83F4-4D4B-BF49-06824084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A32"/>
                </a:solidFill>
              </a:defRPr>
            </a:pPr>
            <a:r>
              <a:rPr sz="2850" b="1">
                <a:solidFill>
                  <a:srgbClr val="071A32"/>
                </a:solidFill>
              </a:rPr>
              <a:t>Every insight is explainable and reviewable</a:t>
            </a:r>
          </a:p>
        </p:txBody>
      </p:sp>
      <p:sp>
        <p:nvSpPr>
          <p:cNvPr id="3" name="subtitle-4">
            <a:extLst xmlns:a="http://schemas.openxmlformats.org/drawingml/2006/main">
              <a:ext uri="{FF2B5EF4-FFF2-40B4-BE49-F238E27FC236}">
                <a16:creationId xmlns:a16="http://schemas.microsoft.com/office/drawing/2014/main" id="{D74FE187-2274-4DD6-89AB-E83AF2FA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467"/>
                </a:solidFill>
              </a:defRPr>
            </a:pPr>
            <a:r>
              <a:rPr sz="1425">
                <a:solidFill>
                  <a:srgbClr val="475467"/>
                </a:solidFill>
              </a:rPr>
              <a:t>The engine shows the condition, evidence, recommendation, source path, and whether CPA review is appropriate.</a:t>
            </a:r>
          </a:p>
        </p:txBody>
      </p:sp>
      <p:sp>
        <p:nvSpPr>
          <p:cNvPr id="4" name="frame-4">
            <a:extLst xmlns:a="http://schemas.openxmlformats.org/drawingml/2006/main">
              <a:ext uri="{FF2B5EF4-FFF2-40B4-BE49-F238E27FC236}">
                <a16:creationId xmlns:a16="http://schemas.microsoft.com/office/drawing/2014/main" id="{65741D92-822F-47C6-8263-268B5A04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111252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2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23ff50b3a54bda"/>
          <a:stretch xmlns:a="http://schemas.openxmlformats.org/drawingml/2006/main"/>
        </p:blipFill>
        <p:spPr>
          <a:xfrm xmlns:a="http://schemas.openxmlformats.org/drawingml/2006/main">
            <a:off x="2946274" y="1647825"/>
            <a:ext cx="6299452" cy="47053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5747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eyebrow-5">
            <a:extLst xmlns:a="http://schemas.openxmlformats.org/drawingml/2006/main">
              <a:ext uri="{FF2B5EF4-FFF2-40B4-BE49-F238E27FC236}">
                <a16:creationId xmlns:a16="http://schemas.microsoft.com/office/drawing/2014/main" id="{49B77CC4-287D-494E-95E8-5063EDCC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67085"/>
                </a:solidFill>
              </a:defRPr>
            </a:pPr>
            <a:r>
              <a:rPr sz="1125" b="1">
                <a:solidFill>
                  <a:srgbClr val="667085"/>
                </a:solidFill>
              </a:rPr>
              <a:t>BOOKSMART CONTRACTOR ENGINE  /  05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13FA8995-C8A4-4CBA-BF4D-9C2CD5A5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11125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71A32"/>
                </a:solidFill>
              </a:defRPr>
            </a:pPr>
            <a:r>
              <a:rPr sz="2850" b="1">
                <a:solidFill>
                  <a:srgbClr val="071A32"/>
                </a:solidFill>
              </a:rPr>
              <a:t>The CPA sees only what the owner authorizes</a:t>
            </a:r>
          </a:p>
        </p:txBody>
      </p:sp>
      <p:sp>
        <p:nvSpPr>
          <p:cNvPr id="3" name="subtitle-5">
            <a:extLst xmlns:a="http://schemas.openxmlformats.org/drawingml/2006/main">
              <a:ext uri="{FF2B5EF4-FFF2-40B4-BE49-F238E27FC236}">
                <a16:creationId xmlns:a16="http://schemas.microsoft.com/office/drawing/2014/main" id="{2ACEE3FB-F3CF-4239-92C5-CCCAC295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4900"/>
            <a:ext cx="1112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475467"/>
                </a:solidFill>
              </a:defRPr>
            </a:pPr>
            <a:r>
              <a:rPr sz="1425">
                <a:solidFill>
                  <a:srgbClr val="475467"/>
                </a:solidFill>
              </a:rPr>
              <a:t>Status-controlled access and supported escalation keep professional review useful without creating another ledger.</a:t>
            </a:r>
          </a:p>
        </p:txBody>
      </p:sp>
      <p:sp>
        <p:nvSpPr>
          <p:cNvPr id="4" name="frame-5">
            <a:extLst xmlns:a="http://schemas.openxmlformats.org/drawingml/2006/main">
              <a:ext uri="{FF2B5EF4-FFF2-40B4-BE49-F238E27FC236}">
                <a16:creationId xmlns:a16="http://schemas.microsoft.com/office/drawing/2014/main" id="{60C89FE5-5D21-450C-9BA7-CD232040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111252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2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79dac46a77480d"/>
          <a:stretch xmlns:a="http://schemas.openxmlformats.org/drawingml/2006/main"/>
        </p:blipFill>
        <p:spPr>
          <a:xfrm xmlns:a="http://schemas.openxmlformats.org/drawingml/2006/main">
            <a:off x="2946274" y="1647825"/>
            <a:ext cx="6299452" cy="47053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0043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4D5CBECC-2F3E-408A-9792-0EF43FCD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THE BOOKSMART MAGIC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A2D26AE5-9ED2-4234-B496-B4133E58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71A32"/>
                </a:solidFill>
              </a:defRPr>
            </a:pPr>
            <a:r>
              <a:rPr sz="4050" b="1">
                <a:solidFill>
                  <a:srgbClr val="071A32"/>
                </a:solidFill>
              </a:rPr>
              <a:t>Here’s what happened. Here’s what needs attention next.</a:t>
            </a:r>
          </a:p>
        </p:txBody>
      </p:sp>
      <p:sp>
        <p:nvSpPr>
          <p:cNvPr id="3" name="close-body">
            <a:extLst xmlns:a="http://schemas.openxmlformats.org/drawingml/2006/main">
              <a:ext uri="{FF2B5EF4-FFF2-40B4-BE49-F238E27FC236}">
                <a16:creationId xmlns:a16="http://schemas.microsoft.com/office/drawing/2014/main" id="{B7FC9AD5-34DF-4F60-BBA1-001EE937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981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75467"/>
                </a:solidFill>
              </a:defRPr>
            </a:pPr>
            <a:r>
              <a:rPr sz="1950">
                <a:solidFill>
                  <a:srgbClr val="475467"/>
                </a:solidFill>
              </a:rPr>
              <a:t>The first contractor engine already connects trusted accounting activity, operational Jobber context, monitoring signals, persistent tasks, and CPA review. The remaining work is production validation and deeper provider coverage.</a:t>
            </a:r>
          </a:p>
        </p:txBody>
      </p:sp>
      <p:sp>
        <p:nvSpPr>
          <p:cNvPr id="4" name="close-status">
            <a:extLst xmlns:a="http://schemas.openxmlformats.org/drawingml/2006/main">
              <a:ext uri="{FF2B5EF4-FFF2-40B4-BE49-F238E27FC236}">
                <a16:creationId xmlns:a16="http://schemas.microsoft.com/office/drawing/2014/main" id="{E92653C8-4759-4492-8A63-FDC759AB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71A32"/>
                </a:solidFill>
              </a:defRPr>
            </a:pPr>
            <a:r>
              <a:rPr sz="1950" b="1">
                <a:solidFill>
                  <a:srgbClr val="071A32"/>
                </a:solidFill>
              </a:rPr>
              <a:t>Core implementation: 90%  •  Overall readiness: 82%</a:t>
            </a:r>
          </a:p>
        </p:txBody>
      </p:sp>
    </p:spTree>
    <p:extLst>
      <p:ext uri="{BB962C8B-B14F-4D97-AF65-F5344CB8AC3E}">
        <p14:creationId xmlns:p14="http://schemas.microsoft.com/office/powerpoint/2010/main" val="15221960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2026-08-23T14:59:02.5800000Z</dcterms:created>
  <dcterms:modified xsi:type="dcterms:W3CDTF">2026-08-23T14:59:02.5800000Z</dcterms:modified>
</coreProperties>
</file>