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6" Type="http://schemas.openxmlformats.org/officeDocument/2006/relationships/image" Target="../media/image1.png"/><Relationship Id="rId5" Type="http://schemas.openxmlformats.org/officeDocument/2006/relationships/image" Target="../media/image2.jpe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6" Type="http://schemas.openxmlformats.org/officeDocument/2006/relationships/image" Target="../media/image1.png"/><Relationship Id="rId5" Type="http://schemas.openxmlformats.org/officeDocument/2006/relationships/image" Target="../media/image3.jpe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6" Type="http://schemas.openxmlformats.org/officeDocument/2006/relationships/image" Target="../media/image1.png"/><Relationship Id="rId5" Type="http://schemas.openxmlformats.org/officeDocument/2006/relationships/image" Target="../media/image4.jpe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6" Type="http://schemas.openxmlformats.org/officeDocument/2006/relationships/image" Target="../media/image1.png"/><Relationship Id="rId5" Type="http://schemas.openxmlformats.org/officeDocument/2006/relationships/image" Target="../media/image5.jpe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6" Type="http://schemas.openxmlformats.org/officeDocument/2006/relationships/image" Target="../media/image1.png"/><Relationship Id="rId5" Type="http://schemas.openxmlformats.org/officeDocument/2006/relationships/image" Target="../media/image6.jpe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7.wav"/><Relationship Id="rId1" Type="http://schemas.microsoft.com/office/2007/relationships/media" Target="../media/media7.wav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ver-eyebrow">
            <a:extLst>
              <a:ext uri="{FF2B5EF4-FFF2-40B4-BE49-F238E27FC236}">
                <a16:creationId xmlns:a16="http://schemas.microsoft.com/office/drawing/2014/main" id="{0D45BB5A-B6D2-4205-B0C1-17E97A991411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F4B41A"/>
                </a:solidFill>
              </a:defRPr>
            </a:pPr>
            <a:r>
              <a:rPr sz="1275" b="1">
                <a:solidFill>
                  <a:srgbClr val="F4B41A"/>
                </a:solidFill>
              </a:rPr>
              <a:t>BOOKSMART PRODUCT DEMO</a:t>
            </a:r>
          </a:p>
        </p:txBody>
      </p:sp>
      <p:sp>
        <p:nvSpPr>
          <p:cNvPr id="2" name="cover-title">
            <a:extLst>
              <a:ext uri="{FF2B5EF4-FFF2-40B4-BE49-F238E27FC236}">
                <a16:creationId xmlns:a16="http://schemas.microsoft.com/office/drawing/2014/main" id="{CFC2135D-D3A3-4F79-B5AB-552B8FC7A437}"/>
              </a:ext>
            </a:extLst>
          </p:cNvPr>
          <p:cNvSpPr>
            <a:spLocks noGrp="1"/>
          </p:cNvSpPr>
          <p:nvPr/>
        </p:nvSpPr>
        <p:spPr>
          <a:xfrm>
            <a:off x="685800" y="1504950"/>
            <a:ext cx="9620250" cy="1695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The contractor engine turns financial activity into action</a:t>
            </a:r>
          </a:p>
        </p:txBody>
      </p:sp>
      <p:sp>
        <p:nvSpPr>
          <p:cNvPr id="3" name="cover-subtitle">
            <a:extLst>
              <a:ext uri="{FF2B5EF4-FFF2-40B4-BE49-F238E27FC236}">
                <a16:creationId xmlns:a16="http://schemas.microsoft.com/office/drawing/2014/main" id="{A57D3827-C003-4736-8BAE-F436EB3757B2}"/>
              </a:ext>
            </a:extLst>
          </p:cNvPr>
          <p:cNvSpPr>
            <a:spLocks noGrp="1"/>
          </p:cNvSpPr>
          <p:nvPr/>
        </p:nvSpPr>
        <p:spPr>
          <a:xfrm>
            <a:off x="685800" y="3524250"/>
            <a:ext cx="85725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>
                <a:solidFill>
                  <a:srgbClr val="D0D5DD"/>
                </a:solidFill>
              </a:defRPr>
            </a:pPr>
            <a:r>
              <a:rPr sz="1950">
                <a:solidFill>
                  <a:srgbClr val="D0D5DD"/>
                </a:solidFill>
              </a:rPr>
              <a:t>A live walkthrough of trusted financial intelligence, job monitoring, owner tasks, and CPA escalation.</a:t>
            </a:r>
          </a:p>
        </p:txBody>
      </p:sp>
      <p:sp>
        <p:nvSpPr>
          <p:cNvPr id="4" name="gold-rule">
            <a:extLst>
              <a:ext uri="{FF2B5EF4-FFF2-40B4-BE49-F238E27FC236}">
                <a16:creationId xmlns:a16="http://schemas.microsoft.com/office/drawing/2014/main" id="{7C06DB73-C5F3-487C-B92F-64355DB0560B}"/>
              </a:ext>
            </a:extLst>
          </p:cNvPr>
          <p:cNvSpPr>
            <a:spLocks noGrp="1"/>
          </p:cNvSpPr>
          <p:nvPr/>
        </p:nvSpPr>
        <p:spPr>
          <a:xfrm>
            <a:off x="685800" y="5143500"/>
            <a:ext cx="1809750" cy="76200"/>
          </a:xfrm>
          <a:prstGeom prst="rect">
            <a:avLst/>
          </a:prstGeom>
          <a:solidFill>
            <a:srgbClr val="F4B41A"/>
          </a:solidFill>
          <a:ln w="0">
            <a:solidFill>
              <a:srgbClr val="F4B41A"/>
            </a:solidFill>
            <a:prstDash val="solid"/>
          </a:ln>
        </p:spPr>
      </p:sp>
      <p:sp>
        <p:nvSpPr>
          <p:cNvPr id="5" name="cover-close">
            <a:extLst>
              <a:ext uri="{FF2B5EF4-FFF2-40B4-BE49-F238E27FC236}">
                <a16:creationId xmlns:a16="http://schemas.microsoft.com/office/drawing/2014/main" id="{AE171B2F-EAD3-43CD-836E-6CD6771DA618}"/>
              </a:ext>
            </a:extLst>
          </p:cNvPr>
          <p:cNvSpPr>
            <a:spLocks noGrp="1"/>
          </p:cNvSpPr>
          <p:nvPr/>
        </p:nvSpPr>
        <p:spPr>
          <a:xfrm>
            <a:off x="685800" y="5429250"/>
            <a:ext cx="10096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Jobber knows the work. Accounting knows the books. BookSmart explains what needs attention.</a:t>
            </a:r>
          </a:p>
        </p:txBody>
      </p:sp>
      <p:pic>
        <p:nvPicPr>
          <p:cNvPr id="7" name="slide-01">
            <a:hlinkClick r:id="" action="ppaction://media"/>
            <a:extLst>
              <a:ext uri="{FF2B5EF4-FFF2-40B4-BE49-F238E27FC236}">
                <a16:creationId xmlns:a16="http://schemas.microsoft.com/office/drawing/2014/main" id="{C566ECEF-3039-3CF3-14C1-6964F1B6707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5621000" y="86360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498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8500"/>
    </mc:Choice>
    <mc:Fallback>
      <p:transition spd="slow" advClick="0" advTm="285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6652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yebrow-1">
            <a:extLst>
              <a:ext uri="{FF2B5EF4-FFF2-40B4-BE49-F238E27FC236}">
                <a16:creationId xmlns:a16="http://schemas.microsoft.com/office/drawing/2014/main" id="{D4614387-046F-4B71-B956-D5A61D763061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BOOKSMART CONTRACTOR ENGINE  /  01</a:t>
            </a:r>
          </a:p>
        </p:txBody>
      </p:sp>
      <p:sp>
        <p:nvSpPr>
          <p:cNvPr id="2" name="title-1">
            <a:extLst>
              <a:ext uri="{FF2B5EF4-FFF2-40B4-BE49-F238E27FC236}">
                <a16:creationId xmlns:a16="http://schemas.microsoft.com/office/drawing/2014/main" id="{7AE711A1-E902-4F70-8103-664F59C911EA}"/>
              </a:ext>
            </a:extLst>
          </p:cNvPr>
          <p:cNvSpPr>
            <a:spLocks noGrp="1"/>
          </p:cNvSpPr>
          <p:nvPr/>
        </p:nvSpPr>
        <p:spPr>
          <a:xfrm>
            <a:off x="533400" y="590550"/>
            <a:ext cx="111252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071A32"/>
                </a:solidFill>
              </a:defRPr>
            </a:pPr>
            <a:r>
              <a:rPr sz="2850" b="1">
                <a:solidFill>
                  <a:srgbClr val="071A32"/>
                </a:solidFill>
              </a:rPr>
              <a:t>The morning brief starts with trusted numbers</a:t>
            </a:r>
          </a:p>
        </p:txBody>
      </p:sp>
      <p:sp>
        <p:nvSpPr>
          <p:cNvPr id="3" name="subtitle-1">
            <a:extLst>
              <a:ext uri="{FF2B5EF4-FFF2-40B4-BE49-F238E27FC236}">
                <a16:creationId xmlns:a16="http://schemas.microsoft.com/office/drawing/2014/main" id="{A3444A35-7784-45B4-A156-E92D9080BAB0}"/>
              </a:ext>
            </a:extLst>
          </p:cNvPr>
          <p:cNvSpPr>
            <a:spLocks noGrp="1"/>
          </p:cNvSpPr>
          <p:nvPr/>
        </p:nvSpPr>
        <p:spPr>
          <a:xfrm>
            <a:off x="533400" y="1104900"/>
            <a:ext cx="11125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>
                <a:solidFill>
                  <a:srgbClr val="475467"/>
                </a:solidFill>
              </a:defRPr>
            </a:pPr>
            <a:r>
              <a:rPr sz="1425">
                <a:solidFill>
                  <a:srgbClr val="475467"/>
                </a:solidFill>
              </a:rPr>
              <a:t>BookSmart summarizes what changed, highlights risk, and labels missing inputs instead of guessing.</a:t>
            </a:r>
          </a:p>
        </p:txBody>
      </p:sp>
      <p:sp>
        <p:nvSpPr>
          <p:cNvPr id="4" name="frame-1">
            <a:extLst>
              <a:ext uri="{FF2B5EF4-FFF2-40B4-BE49-F238E27FC236}">
                <a16:creationId xmlns:a16="http://schemas.microsoft.com/office/drawing/2014/main" id="{693B693E-DEDC-4FEA-8CEC-DAE7C920547B}"/>
              </a:ext>
            </a:extLst>
          </p:cNvPr>
          <p:cNvSpPr>
            <a:spLocks noGrp="1"/>
          </p:cNvSpPr>
          <p:nvPr/>
        </p:nvSpPr>
        <p:spPr>
          <a:xfrm>
            <a:off x="533400" y="1571625"/>
            <a:ext cx="11125200" cy="4857750"/>
          </a:xfrm>
          <a:prstGeom prst="rect">
            <a:avLst/>
          </a:prstGeom>
          <a:solidFill>
            <a:srgbClr val="071A32"/>
          </a:solidFill>
          <a:ln w="9525">
            <a:solidFill>
              <a:srgbClr val="D0D5DD"/>
            </a:solidFill>
            <a:prstDash val="solid"/>
          </a:ln>
        </p:spPr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2946274" y="1647825"/>
            <a:ext cx="6299452" cy="4705350"/>
          </a:xfrm>
          <a:prstGeom prst="rect">
            <a:avLst/>
          </a:prstGeom>
        </p:spPr>
      </p:pic>
      <p:pic>
        <p:nvPicPr>
          <p:cNvPr id="5" name="slide-02">
            <a:hlinkClick r:id="" action="ppaction://media"/>
            <a:extLst>
              <a:ext uri="{FF2B5EF4-FFF2-40B4-BE49-F238E27FC236}">
                <a16:creationId xmlns:a16="http://schemas.microsoft.com/office/drawing/2014/main" id="{A95E1439-68F1-2DD1-00AB-69410863042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5621000" y="86360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7790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34500"/>
    </mc:Choice>
    <mc:Fallback>
      <p:transition spd="slow" advClick="0" advTm="345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2347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yebrow-2">
            <a:extLst>
              <a:ext uri="{FF2B5EF4-FFF2-40B4-BE49-F238E27FC236}">
                <a16:creationId xmlns:a16="http://schemas.microsoft.com/office/drawing/2014/main" id="{BC74BB5F-E10A-42EA-8D94-5DF41F03D563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BOOKSMART CONTRACTOR ENGINE  /  02</a:t>
            </a:r>
          </a:p>
        </p:txBody>
      </p:sp>
      <p:sp>
        <p:nvSpPr>
          <p:cNvPr id="2" name="title-2">
            <a:extLst>
              <a:ext uri="{FF2B5EF4-FFF2-40B4-BE49-F238E27FC236}">
                <a16:creationId xmlns:a16="http://schemas.microsoft.com/office/drawing/2014/main" id="{A0F8A10B-C499-46CB-A554-322065E9A21C}"/>
              </a:ext>
            </a:extLst>
          </p:cNvPr>
          <p:cNvSpPr>
            <a:spLocks noGrp="1"/>
          </p:cNvSpPr>
          <p:nvPr/>
        </p:nvSpPr>
        <p:spPr>
          <a:xfrm>
            <a:off x="533400" y="590550"/>
            <a:ext cx="111252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071A32"/>
                </a:solidFill>
              </a:defRPr>
            </a:pPr>
            <a:r>
              <a:rPr sz="2850" b="1">
                <a:solidFill>
                  <a:srgbClr val="071A32"/>
                </a:solidFill>
              </a:rPr>
              <a:t>One accounting truth prevents double counting</a:t>
            </a:r>
          </a:p>
        </p:txBody>
      </p:sp>
      <p:sp>
        <p:nvSpPr>
          <p:cNvPr id="3" name="subtitle-2">
            <a:extLst>
              <a:ext uri="{FF2B5EF4-FFF2-40B4-BE49-F238E27FC236}">
                <a16:creationId xmlns:a16="http://schemas.microsoft.com/office/drawing/2014/main" id="{7903DEA5-6640-4033-B9A8-EF31C8074EB8}"/>
              </a:ext>
            </a:extLst>
          </p:cNvPr>
          <p:cNvSpPr>
            <a:spLocks noGrp="1"/>
          </p:cNvSpPr>
          <p:nvPr/>
        </p:nvSpPr>
        <p:spPr>
          <a:xfrm>
            <a:off x="533400" y="1104900"/>
            <a:ext cx="11125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>
                <a:solidFill>
                  <a:srgbClr val="475467"/>
                </a:solidFill>
              </a:defRPr>
            </a:pPr>
            <a:r>
              <a:rPr sz="1425">
                <a:solidFill>
                  <a:srgbClr val="475467"/>
                </a:solidFill>
              </a:rPr>
              <a:t>Canonical approved activity drives revenue, expenses, net income, and cash movement; connected sources add context.</a:t>
            </a:r>
          </a:p>
        </p:txBody>
      </p:sp>
      <p:sp>
        <p:nvSpPr>
          <p:cNvPr id="4" name="frame-2">
            <a:extLst>
              <a:ext uri="{FF2B5EF4-FFF2-40B4-BE49-F238E27FC236}">
                <a16:creationId xmlns:a16="http://schemas.microsoft.com/office/drawing/2014/main" id="{A67A9382-2135-4BA2-A11E-3B4289F053C2}"/>
              </a:ext>
            </a:extLst>
          </p:cNvPr>
          <p:cNvSpPr>
            <a:spLocks noGrp="1"/>
          </p:cNvSpPr>
          <p:nvPr/>
        </p:nvSpPr>
        <p:spPr>
          <a:xfrm>
            <a:off x="533400" y="1571625"/>
            <a:ext cx="11125200" cy="4857750"/>
          </a:xfrm>
          <a:prstGeom prst="rect">
            <a:avLst/>
          </a:prstGeom>
          <a:solidFill>
            <a:srgbClr val="071A32"/>
          </a:solidFill>
          <a:ln w="9525">
            <a:solidFill>
              <a:srgbClr val="D0D5DD"/>
            </a:solidFill>
            <a:prstDash val="solid"/>
          </a:ln>
        </p:spPr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2946274" y="1647825"/>
            <a:ext cx="6299452" cy="4705350"/>
          </a:xfrm>
          <a:prstGeom prst="rect">
            <a:avLst/>
          </a:prstGeom>
        </p:spPr>
      </p:pic>
      <p:pic>
        <p:nvPicPr>
          <p:cNvPr id="5" name="slide-03">
            <a:hlinkClick r:id="" action="ppaction://media"/>
            <a:extLst>
              <a:ext uri="{FF2B5EF4-FFF2-40B4-BE49-F238E27FC236}">
                <a16:creationId xmlns:a16="http://schemas.microsoft.com/office/drawing/2014/main" id="{3001D2A9-A906-69CD-343E-66D9106B0AE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5621000" y="86360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5208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36500"/>
    </mc:Choice>
    <mc:Fallback>
      <p:transition spd="slow" advClick="0" advTm="365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4752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yebrow-3">
            <a:extLst>
              <a:ext uri="{FF2B5EF4-FFF2-40B4-BE49-F238E27FC236}">
                <a16:creationId xmlns:a16="http://schemas.microsoft.com/office/drawing/2014/main" id="{A91194D3-389D-470C-9FA7-353FD4EE9155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BOOKSMART CONTRACTOR ENGINE  /  03</a:t>
            </a:r>
          </a:p>
        </p:txBody>
      </p:sp>
      <p:sp>
        <p:nvSpPr>
          <p:cNvPr id="2" name="title-3">
            <a:extLst>
              <a:ext uri="{FF2B5EF4-FFF2-40B4-BE49-F238E27FC236}">
                <a16:creationId xmlns:a16="http://schemas.microsoft.com/office/drawing/2014/main" id="{400FD70B-F828-4208-9422-10E9F3BBF7BB}"/>
              </a:ext>
            </a:extLst>
          </p:cNvPr>
          <p:cNvSpPr>
            <a:spLocks noGrp="1"/>
          </p:cNvSpPr>
          <p:nvPr/>
        </p:nvSpPr>
        <p:spPr>
          <a:xfrm>
            <a:off x="533400" y="590550"/>
            <a:ext cx="111252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071A32"/>
                </a:solidFill>
              </a:defRPr>
            </a:pPr>
            <a:r>
              <a:rPr sz="2850" b="1">
                <a:solidFill>
                  <a:srgbClr val="071A32"/>
                </a:solidFill>
              </a:rPr>
              <a:t>Signals become concrete, owned work</a:t>
            </a:r>
          </a:p>
        </p:txBody>
      </p:sp>
      <p:sp>
        <p:nvSpPr>
          <p:cNvPr id="3" name="subtitle-3">
            <a:extLst>
              <a:ext uri="{FF2B5EF4-FFF2-40B4-BE49-F238E27FC236}">
                <a16:creationId xmlns:a16="http://schemas.microsoft.com/office/drawing/2014/main" id="{8C0690EB-A6D9-42EF-A3DA-AFF407B6E01C}"/>
              </a:ext>
            </a:extLst>
          </p:cNvPr>
          <p:cNvSpPr>
            <a:spLocks noGrp="1"/>
          </p:cNvSpPr>
          <p:nvPr/>
        </p:nvSpPr>
        <p:spPr>
          <a:xfrm>
            <a:off x="533400" y="1104900"/>
            <a:ext cx="11125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>
                <a:solidFill>
                  <a:srgbClr val="475467"/>
                </a:solidFill>
              </a:defRPr>
            </a:pPr>
            <a:r>
              <a:rPr sz="1425">
                <a:solidFill>
                  <a:srgbClr val="475467"/>
                </a:solidFill>
              </a:rPr>
              <a:t>Every supported issue creates a persistent task with an owner, priority, due date, and deterministic lifecycle.</a:t>
            </a:r>
          </a:p>
        </p:txBody>
      </p:sp>
      <p:sp>
        <p:nvSpPr>
          <p:cNvPr id="4" name="frame-3">
            <a:extLst>
              <a:ext uri="{FF2B5EF4-FFF2-40B4-BE49-F238E27FC236}">
                <a16:creationId xmlns:a16="http://schemas.microsoft.com/office/drawing/2014/main" id="{BFA3DE41-815A-402D-9E20-02EA036E09B8}"/>
              </a:ext>
            </a:extLst>
          </p:cNvPr>
          <p:cNvSpPr>
            <a:spLocks noGrp="1"/>
          </p:cNvSpPr>
          <p:nvPr/>
        </p:nvSpPr>
        <p:spPr>
          <a:xfrm>
            <a:off x="533400" y="1571625"/>
            <a:ext cx="11125200" cy="4857750"/>
          </a:xfrm>
          <a:prstGeom prst="rect">
            <a:avLst/>
          </a:prstGeom>
          <a:solidFill>
            <a:srgbClr val="071A32"/>
          </a:solidFill>
          <a:ln w="9525">
            <a:solidFill>
              <a:srgbClr val="D0D5DD"/>
            </a:solidFill>
            <a:prstDash val="solid"/>
          </a:ln>
        </p:spPr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2946274" y="1647825"/>
            <a:ext cx="6299452" cy="4705350"/>
          </a:xfrm>
          <a:prstGeom prst="rect">
            <a:avLst/>
          </a:prstGeom>
        </p:spPr>
      </p:pic>
      <p:pic>
        <p:nvPicPr>
          <p:cNvPr id="5" name="slide-04">
            <a:hlinkClick r:id="" action="ppaction://media"/>
            <a:extLst>
              <a:ext uri="{FF2B5EF4-FFF2-40B4-BE49-F238E27FC236}">
                <a16:creationId xmlns:a16="http://schemas.microsoft.com/office/drawing/2014/main" id="{9C305DE4-3A55-5E03-796D-93CE6FF4E9D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5621000" y="86360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0995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35500"/>
    </mc:Choice>
    <mc:Fallback>
      <p:transition spd="slow" advClick="0" advTm="355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332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yebrow-4">
            <a:extLst>
              <a:ext uri="{FF2B5EF4-FFF2-40B4-BE49-F238E27FC236}">
                <a16:creationId xmlns:a16="http://schemas.microsoft.com/office/drawing/2014/main" id="{A3F9E4F9-717A-43B5-B6C6-FD02ED30132D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BOOKSMART CONTRACTOR ENGINE  /  04</a:t>
            </a:r>
          </a:p>
        </p:txBody>
      </p:sp>
      <p:sp>
        <p:nvSpPr>
          <p:cNvPr id="2" name="title-4">
            <a:extLst>
              <a:ext uri="{FF2B5EF4-FFF2-40B4-BE49-F238E27FC236}">
                <a16:creationId xmlns:a16="http://schemas.microsoft.com/office/drawing/2014/main" id="{5461287E-83F4-4D4B-BF49-0682408433B7}"/>
              </a:ext>
            </a:extLst>
          </p:cNvPr>
          <p:cNvSpPr>
            <a:spLocks noGrp="1"/>
          </p:cNvSpPr>
          <p:nvPr/>
        </p:nvSpPr>
        <p:spPr>
          <a:xfrm>
            <a:off x="533400" y="590550"/>
            <a:ext cx="111252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071A32"/>
                </a:solidFill>
              </a:defRPr>
            </a:pPr>
            <a:r>
              <a:rPr sz="2850" b="1">
                <a:solidFill>
                  <a:srgbClr val="071A32"/>
                </a:solidFill>
              </a:rPr>
              <a:t>Every insight is explainable and reviewable</a:t>
            </a:r>
          </a:p>
        </p:txBody>
      </p:sp>
      <p:sp>
        <p:nvSpPr>
          <p:cNvPr id="3" name="subtitle-4">
            <a:extLst>
              <a:ext uri="{FF2B5EF4-FFF2-40B4-BE49-F238E27FC236}">
                <a16:creationId xmlns:a16="http://schemas.microsoft.com/office/drawing/2014/main" id="{D74FE187-2274-4DD6-89AB-E83AF2FA25A9}"/>
              </a:ext>
            </a:extLst>
          </p:cNvPr>
          <p:cNvSpPr>
            <a:spLocks noGrp="1"/>
          </p:cNvSpPr>
          <p:nvPr/>
        </p:nvSpPr>
        <p:spPr>
          <a:xfrm>
            <a:off x="533400" y="1104900"/>
            <a:ext cx="11125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>
                <a:solidFill>
                  <a:srgbClr val="475467"/>
                </a:solidFill>
              </a:defRPr>
            </a:pPr>
            <a:r>
              <a:rPr sz="1425">
                <a:solidFill>
                  <a:srgbClr val="475467"/>
                </a:solidFill>
              </a:rPr>
              <a:t>The engine shows the condition, evidence, recommendation, source path, and whether CPA review is appropriate.</a:t>
            </a:r>
          </a:p>
        </p:txBody>
      </p:sp>
      <p:sp>
        <p:nvSpPr>
          <p:cNvPr id="4" name="frame-4">
            <a:extLst>
              <a:ext uri="{FF2B5EF4-FFF2-40B4-BE49-F238E27FC236}">
                <a16:creationId xmlns:a16="http://schemas.microsoft.com/office/drawing/2014/main" id="{65741D92-822F-47C6-8263-268B5A04120A}"/>
              </a:ext>
            </a:extLst>
          </p:cNvPr>
          <p:cNvSpPr>
            <a:spLocks noGrp="1"/>
          </p:cNvSpPr>
          <p:nvPr/>
        </p:nvSpPr>
        <p:spPr>
          <a:xfrm>
            <a:off x="533400" y="1571625"/>
            <a:ext cx="11125200" cy="4857750"/>
          </a:xfrm>
          <a:prstGeom prst="rect">
            <a:avLst/>
          </a:prstGeom>
          <a:solidFill>
            <a:srgbClr val="071A32"/>
          </a:solidFill>
          <a:ln w="9525">
            <a:solidFill>
              <a:srgbClr val="D0D5DD"/>
            </a:solidFill>
            <a:prstDash val="solid"/>
          </a:ln>
        </p:spPr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2946274" y="1647825"/>
            <a:ext cx="6299452" cy="4705350"/>
          </a:xfrm>
          <a:prstGeom prst="rect">
            <a:avLst/>
          </a:prstGeom>
        </p:spPr>
      </p:pic>
      <p:pic>
        <p:nvPicPr>
          <p:cNvPr id="5" name="slide-05">
            <a:hlinkClick r:id="" action="ppaction://media"/>
            <a:extLst>
              <a:ext uri="{FF2B5EF4-FFF2-40B4-BE49-F238E27FC236}">
                <a16:creationId xmlns:a16="http://schemas.microsoft.com/office/drawing/2014/main" id="{E2767050-C8FB-9B81-A148-44C76A21285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5621000" y="86360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5747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37500"/>
    </mc:Choice>
    <mc:Fallback>
      <p:transition spd="slow" advClick="0" advTm="375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5967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yebrow-5">
            <a:extLst>
              <a:ext uri="{FF2B5EF4-FFF2-40B4-BE49-F238E27FC236}">
                <a16:creationId xmlns:a16="http://schemas.microsoft.com/office/drawing/2014/main" id="{49B77CC4-287D-494E-95E8-5063EDCC94CA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BOOKSMART CONTRACTOR ENGINE  /  05</a:t>
            </a:r>
          </a:p>
        </p:txBody>
      </p:sp>
      <p:sp>
        <p:nvSpPr>
          <p:cNvPr id="2" name="title-5">
            <a:extLst>
              <a:ext uri="{FF2B5EF4-FFF2-40B4-BE49-F238E27FC236}">
                <a16:creationId xmlns:a16="http://schemas.microsoft.com/office/drawing/2014/main" id="{13FA8995-C8A4-4CBA-BF4D-9C2CD5A53C83}"/>
              </a:ext>
            </a:extLst>
          </p:cNvPr>
          <p:cNvSpPr>
            <a:spLocks noGrp="1"/>
          </p:cNvSpPr>
          <p:nvPr/>
        </p:nvSpPr>
        <p:spPr>
          <a:xfrm>
            <a:off x="533400" y="590550"/>
            <a:ext cx="111252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071A32"/>
                </a:solidFill>
              </a:defRPr>
            </a:pPr>
            <a:r>
              <a:rPr sz="2850" b="1">
                <a:solidFill>
                  <a:srgbClr val="071A32"/>
                </a:solidFill>
              </a:rPr>
              <a:t>The CPA sees only what the owner authorizes</a:t>
            </a:r>
          </a:p>
        </p:txBody>
      </p:sp>
      <p:sp>
        <p:nvSpPr>
          <p:cNvPr id="3" name="subtitle-5">
            <a:extLst>
              <a:ext uri="{FF2B5EF4-FFF2-40B4-BE49-F238E27FC236}">
                <a16:creationId xmlns:a16="http://schemas.microsoft.com/office/drawing/2014/main" id="{2ACEE3FB-F3CF-4239-92C5-CCCAC2950712}"/>
              </a:ext>
            </a:extLst>
          </p:cNvPr>
          <p:cNvSpPr>
            <a:spLocks noGrp="1"/>
          </p:cNvSpPr>
          <p:nvPr/>
        </p:nvSpPr>
        <p:spPr>
          <a:xfrm>
            <a:off x="533400" y="1104900"/>
            <a:ext cx="11125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>
                <a:solidFill>
                  <a:srgbClr val="475467"/>
                </a:solidFill>
              </a:defRPr>
            </a:pPr>
            <a:r>
              <a:rPr sz="1425">
                <a:solidFill>
                  <a:srgbClr val="475467"/>
                </a:solidFill>
              </a:rPr>
              <a:t>Status-controlled access and supported escalation keep professional review useful without creating another ledger.</a:t>
            </a:r>
          </a:p>
        </p:txBody>
      </p:sp>
      <p:sp>
        <p:nvSpPr>
          <p:cNvPr id="4" name="frame-5">
            <a:extLst>
              <a:ext uri="{FF2B5EF4-FFF2-40B4-BE49-F238E27FC236}">
                <a16:creationId xmlns:a16="http://schemas.microsoft.com/office/drawing/2014/main" id="{60C89FE5-5D21-450C-9BA7-CD2320405A62}"/>
              </a:ext>
            </a:extLst>
          </p:cNvPr>
          <p:cNvSpPr>
            <a:spLocks noGrp="1"/>
          </p:cNvSpPr>
          <p:nvPr/>
        </p:nvSpPr>
        <p:spPr>
          <a:xfrm>
            <a:off x="533400" y="1571625"/>
            <a:ext cx="11125200" cy="4857750"/>
          </a:xfrm>
          <a:prstGeom prst="rect">
            <a:avLst/>
          </a:prstGeom>
          <a:solidFill>
            <a:srgbClr val="071A32"/>
          </a:solidFill>
          <a:ln w="9525">
            <a:solidFill>
              <a:srgbClr val="D0D5DD"/>
            </a:solidFill>
            <a:prstDash val="solid"/>
          </a:ln>
        </p:spPr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2946274" y="1647825"/>
            <a:ext cx="6299452" cy="4705350"/>
          </a:xfrm>
          <a:prstGeom prst="rect">
            <a:avLst/>
          </a:prstGeom>
        </p:spPr>
      </p:pic>
      <p:pic>
        <p:nvPicPr>
          <p:cNvPr id="5" name="slide-06">
            <a:hlinkClick r:id="" action="ppaction://media"/>
            <a:extLst>
              <a:ext uri="{FF2B5EF4-FFF2-40B4-BE49-F238E27FC236}">
                <a16:creationId xmlns:a16="http://schemas.microsoft.com/office/drawing/2014/main" id="{1653D79B-70A8-EF6D-7B21-AA1ABA3DDD3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5621000" y="86360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0043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36500"/>
    </mc:Choice>
    <mc:Fallback>
      <p:transition spd="slow" advClick="0" advTm="365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4129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lose-eyebrow">
            <a:extLst>
              <a:ext uri="{FF2B5EF4-FFF2-40B4-BE49-F238E27FC236}">
                <a16:creationId xmlns:a16="http://schemas.microsoft.com/office/drawing/2014/main" id="{4D5CBECC-2F3E-408A-9792-0EF43FCD0447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3D8DFF"/>
                </a:solidFill>
              </a:defRPr>
            </a:pPr>
            <a:r>
              <a:rPr sz="1275" b="1">
                <a:solidFill>
                  <a:srgbClr val="3D8DFF"/>
                </a:solidFill>
              </a:rPr>
              <a:t>THE BOOKSMART MAGIC</a:t>
            </a:r>
          </a:p>
        </p:txBody>
      </p:sp>
      <p:sp>
        <p:nvSpPr>
          <p:cNvPr id="2" name="close-title">
            <a:extLst>
              <a:ext uri="{FF2B5EF4-FFF2-40B4-BE49-F238E27FC236}">
                <a16:creationId xmlns:a16="http://schemas.microsoft.com/office/drawing/2014/main" id="{A2D26AE5-9ED2-4234-B496-B4133E5842CC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102870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4050" b="1">
                <a:solidFill>
                  <a:srgbClr val="071A32"/>
                </a:solidFill>
              </a:defRPr>
            </a:pPr>
            <a:r>
              <a:rPr sz="4050" b="1">
                <a:solidFill>
                  <a:srgbClr val="071A32"/>
                </a:solidFill>
              </a:rPr>
              <a:t>Here’s what happened. Here’s what needs attention next.</a:t>
            </a:r>
          </a:p>
        </p:txBody>
      </p:sp>
      <p:sp>
        <p:nvSpPr>
          <p:cNvPr id="3" name="close-body">
            <a:extLst>
              <a:ext uri="{FF2B5EF4-FFF2-40B4-BE49-F238E27FC236}">
                <a16:creationId xmlns:a16="http://schemas.microsoft.com/office/drawing/2014/main" id="{B7FC9AD5-34DF-4F60-BBA1-001EE937481D}"/>
              </a:ext>
            </a:extLst>
          </p:cNvPr>
          <p:cNvSpPr>
            <a:spLocks noGrp="1"/>
          </p:cNvSpPr>
          <p:nvPr/>
        </p:nvSpPr>
        <p:spPr>
          <a:xfrm>
            <a:off x="685800" y="3333750"/>
            <a:ext cx="981075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>
                <a:solidFill>
                  <a:srgbClr val="475467"/>
                </a:solidFill>
              </a:defRPr>
            </a:pPr>
            <a:r>
              <a:rPr sz="1950">
                <a:solidFill>
                  <a:srgbClr val="475467"/>
                </a:solidFill>
              </a:rPr>
              <a:t>The first contractor engine already connects trusted accounting activity, operational Jobber context, monitoring signals, persistent tasks, and CPA review. The remaining work is production validation and deeper provider coverage.</a:t>
            </a:r>
          </a:p>
        </p:txBody>
      </p:sp>
      <p:sp>
        <p:nvSpPr>
          <p:cNvPr id="4" name="close-status">
            <a:extLst>
              <a:ext uri="{FF2B5EF4-FFF2-40B4-BE49-F238E27FC236}">
                <a16:creationId xmlns:a16="http://schemas.microsoft.com/office/drawing/2014/main" id="{E92653C8-4759-4492-8A63-FDC759AB1BD3}"/>
              </a:ext>
            </a:extLst>
          </p:cNvPr>
          <p:cNvSpPr>
            <a:spLocks noGrp="1"/>
          </p:cNvSpPr>
          <p:nvPr/>
        </p:nvSpPr>
        <p:spPr>
          <a:xfrm>
            <a:off x="685800" y="5334000"/>
            <a:ext cx="8572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>
                <a:solidFill>
                  <a:srgbClr val="071A32"/>
                </a:solidFill>
              </a:defRPr>
            </a:pPr>
            <a:r>
              <a:rPr sz="1950" b="1">
                <a:solidFill>
                  <a:srgbClr val="071A32"/>
                </a:solidFill>
              </a:rPr>
              <a:t>Core implementation: 90%  •  Overall readiness: 82%</a:t>
            </a:r>
          </a:p>
        </p:txBody>
      </p:sp>
      <p:pic>
        <p:nvPicPr>
          <p:cNvPr id="6" name="slide-07">
            <a:hlinkClick r:id="" action="ppaction://media"/>
            <a:extLst>
              <a:ext uri="{FF2B5EF4-FFF2-40B4-BE49-F238E27FC236}">
                <a16:creationId xmlns:a16="http://schemas.microsoft.com/office/drawing/2014/main" id="{2D7BA166-DF80-EC99-C509-C5A6C3EC08E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5621000" y="86360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1960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37500"/>
    </mc:Choice>
    <mc:Fallback>
      <p:transition spd="slow" advClick="0" advTm="375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5418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252</Words>
  <Application>Microsoft Office PowerPoint</Application>
  <DocSecurity>0</DocSecurity>
  <PresentationFormat>Widescreen</PresentationFormat>
  <Paragraphs>23</Paragraphs>
  <Slides>7</Slides>
  <Notes>7</Notes>
  <HiddenSlides>0</HiddenSlides>
  <MMClips>7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jommel joseph lingad</cp:lastModifiedBy>
  <cp:revision>1</cp:revision>
  <dcterms:created xsi:type="dcterms:W3CDTF">2026-08-23T14:59:02Z</dcterms:created>
  <dcterms:modified xsi:type="dcterms:W3CDTF">2026-08-23T15:04:10Z</dcterms:modified>
</cp:coreProperties>
</file>